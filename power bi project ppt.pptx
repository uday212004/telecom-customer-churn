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57" r:id="rId3"/>
    <p:sldId id="261" r:id="rId4"/>
    <p:sldId id="262" r:id="rId5"/>
    <p:sldId id="270" r:id="rId6"/>
    <p:sldId id="271" r:id="rId7"/>
    <p:sldId id="272" r:id="rId8"/>
    <p:sldId id="273" r:id="rId9"/>
    <p:sldId id="274" r:id="rId10"/>
    <p:sldId id="275" r:id="rId11"/>
    <p:sldId id="277" r:id="rId12"/>
    <p:sldId id="269" r:id="rId13"/>
    <p:sldId id="276" r:id="rId14"/>
    <p:sldId id="259" r:id="rId15"/>
  </p:sldIdLst>
  <p:sldSz cx="12192000" cy="6858000"/>
  <p:notesSz cx="6858000" cy="9144000"/>
  <p:embeddedFontLst>
    <p:embeddedFont>
      <p:font typeface="Lato Black" panose="020F0502020204030203" pitchFamily="34" charset="0"/>
      <p:bold r:id="rId17"/>
      <p:boldItalic r:id="rId18"/>
    </p:embeddedFont>
    <p:embeddedFont>
      <p:font typeface="Libre Baskerville" panose="02000000000000000000" pitchFamily="2" charset="0"/>
      <p:regular r:id="rId19"/>
      <p:bold r:id="rId20"/>
      <p: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6EBFE9-3849-4E5C-A04C-38D0654E7B52}" v="62" dt="2026-01-16T19:33:36.0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78" d="100"/>
          <a:sy n="78" d="100"/>
        </p:scale>
        <p:origin x="86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customschemas.google.com/relationships/presentationmetadata" Target="meta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SHA SURYAWANSHI" userId="83bc4219979222e9" providerId="LiveId" clId="{08B842EB-C8F1-4A9F-BD61-8F095083F614}"/>
    <pc:docChg chg="custSel addSld delSld modSld">
      <pc:chgData name="DISHA SURYAWANSHI" userId="83bc4219979222e9" providerId="LiveId" clId="{08B842EB-C8F1-4A9F-BD61-8F095083F614}" dt="2026-01-17T06:01:11.691" v="1607" actId="2696"/>
      <pc:docMkLst>
        <pc:docMk/>
      </pc:docMkLst>
      <pc:sldChg chg="modSp mod">
        <pc:chgData name="DISHA SURYAWANSHI" userId="83bc4219979222e9" providerId="LiveId" clId="{08B842EB-C8F1-4A9F-BD61-8F095083F614}" dt="2026-01-15T16:01:40.982" v="824" actId="1076"/>
        <pc:sldMkLst>
          <pc:docMk/>
          <pc:sldMk cId="0" sldId="256"/>
        </pc:sldMkLst>
        <pc:spChg chg="mod">
          <ac:chgData name="DISHA SURYAWANSHI" userId="83bc4219979222e9" providerId="LiveId" clId="{08B842EB-C8F1-4A9F-BD61-8F095083F614}" dt="2026-01-15T16:01:40.982" v="824" actId="1076"/>
          <ac:spMkLst>
            <pc:docMk/>
            <pc:sldMk cId="0" sldId="256"/>
            <ac:spMk id="99" creationId="{00000000-0000-0000-0000-000000000000}"/>
          </ac:spMkLst>
        </pc:spChg>
      </pc:sldChg>
      <pc:sldChg chg="addSp delSp modSp mod">
        <pc:chgData name="DISHA SURYAWANSHI" userId="83bc4219979222e9" providerId="LiveId" clId="{08B842EB-C8F1-4A9F-BD61-8F095083F614}" dt="2026-01-15T17:14:05.857" v="878" actId="1076"/>
        <pc:sldMkLst>
          <pc:docMk/>
          <pc:sldMk cId="3459129411" sldId="261"/>
        </pc:sldMkLst>
        <pc:spChg chg="add mod">
          <ac:chgData name="DISHA SURYAWANSHI" userId="83bc4219979222e9" providerId="LiveId" clId="{08B842EB-C8F1-4A9F-BD61-8F095083F614}" dt="2026-01-15T17:14:05.857" v="878" actId="1076"/>
          <ac:spMkLst>
            <pc:docMk/>
            <pc:sldMk cId="3459129411" sldId="261"/>
            <ac:spMk id="4" creationId="{E190D7D4-BD23-BA45-22F3-32B9336EBC2C}"/>
          </ac:spMkLst>
        </pc:spChg>
      </pc:sldChg>
      <pc:sldChg chg="addSp delSp modSp mod">
        <pc:chgData name="DISHA SURYAWANSHI" userId="83bc4219979222e9" providerId="LiveId" clId="{08B842EB-C8F1-4A9F-BD61-8F095083F614}" dt="2026-01-15T17:22:04.201" v="923" actId="1076"/>
        <pc:sldMkLst>
          <pc:docMk/>
          <pc:sldMk cId="3827328516" sldId="262"/>
        </pc:sldMkLst>
        <pc:spChg chg="add mod">
          <ac:chgData name="DISHA SURYAWANSHI" userId="83bc4219979222e9" providerId="LiveId" clId="{08B842EB-C8F1-4A9F-BD61-8F095083F614}" dt="2026-01-15T17:22:04.201" v="923" actId="1076"/>
          <ac:spMkLst>
            <pc:docMk/>
            <pc:sldMk cId="3827328516" sldId="262"/>
            <ac:spMk id="5" creationId="{6CB6E952-696E-A0AD-1579-610AB1E46F4D}"/>
          </ac:spMkLst>
        </pc:spChg>
      </pc:sldChg>
      <pc:sldChg chg="addSp delSp modSp new mod">
        <pc:chgData name="DISHA SURYAWANSHI" userId="83bc4219979222e9" providerId="LiveId" clId="{08B842EB-C8F1-4A9F-BD61-8F095083F614}" dt="2026-01-15T20:09:38.400" v="1500" actId="1076"/>
        <pc:sldMkLst>
          <pc:docMk/>
          <pc:sldMk cId="3441150412" sldId="269"/>
        </pc:sldMkLst>
        <pc:spChg chg="mod">
          <ac:chgData name="DISHA SURYAWANSHI" userId="83bc4219979222e9" providerId="LiveId" clId="{08B842EB-C8F1-4A9F-BD61-8F095083F614}" dt="2026-01-15T20:09:38.400" v="1500" actId="1076"/>
          <ac:spMkLst>
            <pc:docMk/>
            <pc:sldMk cId="3441150412" sldId="269"/>
            <ac:spMk id="2" creationId="{EA918335-28C8-75A1-F7EF-A4936ABC78A4}"/>
          </ac:spMkLst>
        </pc:spChg>
        <pc:spChg chg="mod">
          <ac:chgData name="DISHA SURYAWANSHI" userId="83bc4219979222e9" providerId="LiveId" clId="{08B842EB-C8F1-4A9F-BD61-8F095083F614}" dt="2026-01-15T20:09:28.471" v="1499" actId="1076"/>
          <ac:spMkLst>
            <pc:docMk/>
            <pc:sldMk cId="3441150412" sldId="269"/>
            <ac:spMk id="3" creationId="{4854451F-BAEF-62C9-E9EE-5AE81D865443}"/>
          </ac:spMkLst>
        </pc:spChg>
      </pc:sldChg>
      <pc:sldChg chg="addSp modSp new mod">
        <pc:chgData name="DISHA SURYAWANSHI" userId="83bc4219979222e9" providerId="LiveId" clId="{08B842EB-C8F1-4A9F-BD61-8F095083F614}" dt="2026-01-15T19:06:19.106" v="1190" actId="113"/>
        <pc:sldMkLst>
          <pc:docMk/>
          <pc:sldMk cId="3335758204" sldId="270"/>
        </pc:sldMkLst>
        <pc:spChg chg="mod">
          <ac:chgData name="DISHA SURYAWANSHI" userId="83bc4219979222e9" providerId="LiveId" clId="{08B842EB-C8F1-4A9F-BD61-8F095083F614}" dt="2026-01-15T19:06:19.106" v="1190" actId="113"/>
          <ac:spMkLst>
            <pc:docMk/>
            <pc:sldMk cId="3335758204" sldId="270"/>
            <ac:spMk id="2" creationId="{730A2BCF-A417-2DD6-A2EF-EAF7A9C2A29E}"/>
          </ac:spMkLst>
        </pc:spChg>
        <pc:spChg chg="add mod">
          <ac:chgData name="DISHA SURYAWANSHI" userId="83bc4219979222e9" providerId="LiveId" clId="{08B842EB-C8F1-4A9F-BD61-8F095083F614}" dt="2026-01-15T18:55:23.074" v="1137" actId="1076"/>
          <ac:spMkLst>
            <pc:docMk/>
            <pc:sldMk cId="3335758204" sldId="270"/>
            <ac:spMk id="5" creationId="{C6A5272E-68DD-2746-5A8F-623BE812CA24}"/>
          </ac:spMkLst>
        </pc:spChg>
        <pc:picChg chg="add mod">
          <ac:chgData name="DISHA SURYAWANSHI" userId="83bc4219979222e9" providerId="LiveId" clId="{08B842EB-C8F1-4A9F-BD61-8F095083F614}" dt="2026-01-15T18:55:19.934" v="1136" actId="1076"/>
          <ac:picMkLst>
            <pc:docMk/>
            <pc:sldMk cId="3335758204" sldId="270"/>
            <ac:picMk id="4" creationId="{8DEE8A6D-752D-1425-BFC2-E5B7219692E3}"/>
          </ac:picMkLst>
        </pc:picChg>
      </pc:sldChg>
      <pc:sldChg chg="addSp modSp new mod">
        <pc:chgData name="DISHA SURYAWANSHI" userId="83bc4219979222e9" providerId="LiveId" clId="{08B842EB-C8F1-4A9F-BD61-8F095083F614}" dt="2026-01-16T19:42:03.931" v="1606" actId="20577"/>
        <pc:sldMkLst>
          <pc:docMk/>
          <pc:sldMk cId="2165261287" sldId="271"/>
        </pc:sldMkLst>
        <pc:spChg chg="mod">
          <ac:chgData name="DISHA SURYAWANSHI" userId="83bc4219979222e9" providerId="LiveId" clId="{08B842EB-C8F1-4A9F-BD61-8F095083F614}" dt="2026-01-15T18:54:42.026" v="1132" actId="14100"/>
          <ac:spMkLst>
            <pc:docMk/>
            <pc:sldMk cId="2165261287" sldId="271"/>
            <ac:spMk id="2" creationId="{B6EE8098-BC8A-BCDC-D0B1-B8880C3CBA5A}"/>
          </ac:spMkLst>
        </pc:spChg>
        <pc:spChg chg="add mod">
          <ac:chgData name="DISHA SURYAWANSHI" userId="83bc4219979222e9" providerId="LiveId" clId="{08B842EB-C8F1-4A9F-BD61-8F095083F614}" dt="2026-01-16T19:42:03.931" v="1606" actId="20577"/>
          <ac:spMkLst>
            <pc:docMk/>
            <pc:sldMk cId="2165261287" sldId="271"/>
            <ac:spMk id="5" creationId="{BCA26947-8BA6-E992-CAEC-66F2FBDC7E10}"/>
          </ac:spMkLst>
        </pc:spChg>
        <pc:picChg chg="add mod">
          <ac:chgData name="DISHA SURYAWANSHI" userId="83bc4219979222e9" providerId="LiveId" clId="{08B842EB-C8F1-4A9F-BD61-8F095083F614}" dt="2026-01-15T18:54:19.433" v="1128" actId="14100"/>
          <ac:picMkLst>
            <pc:docMk/>
            <pc:sldMk cId="2165261287" sldId="271"/>
            <ac:picMk id="4" creationId="{4F8E05EA-B4DA-E8AC-ACC5-F9C996FC3B91}"/>
          </ac:picMkLst>
        </pc:picChg>
      </pc:sldChg>
      <pc:sldChg chg="addSp modSp new mod">
        <pc:chgData name="DISHA SURYAWANSHI" userId="83bc4219979222e9" providerId="LiveId" clId="{08B842EB-C8F1-4A9F-BD61-8F095083F614}" dt="2026-01-15T19:24:30.814" v="1293" actId="1076"/>
        <pc:sldMkLst>
          <pc:docMk/>
          <pc:sldMk cId="388374599" sldId="272"/>
        </pc:sldMkLst>
        <pc:spChg chg="mod">
          <ac:chgData name="DISHA SURYAWANSHI" userId="83bc4219979222e9" providerId="LiveId" clId="{08B842EB-C8F1-4A9F-BD61-8F095083F614}" dt="2026-01-15T19:02:37.713" v="1146" actId="27636"/>
          <ac:spMkLst>
            <pc:docMk/>
            <pc:sldMk cId="388374599" sldId="272"/>
            <ac:spMk id="2" creationId="{5D118B77-AC68-3766-7028-232CCC8B1ADC}"/>
          </ac:spMkLst>
        </pc:spChg>
        <pc:spChg chg="add mod">
          <ac:chgData name="DISHA SURYAWANSHI" userId="83bc4219979222e9" providerId="LiveId" clId="{08B842EB-C8F1-4A9F-BD61-8F095083F614}" dt="2026-01-15T19:24:24.737" v="1292" actId="1076"/>
          <ac:spMkLst>
            <pc:docMk/>
            <pc:sldMk cId="388374599" sldId="272"/>
            <ac:spMk id="5" creationId="{90AE0AFE-C3FD-60EB-E509-21842D2D079B}"/>
          </ac:spMkLst>
        </pc:spChg>
        <pc:picChg chg="add mod">
          <ac:chgData name="DISHA SURYAWANSHI" userId="83bc4219979222e9" providerId="LiveId" clId="{08B842EB-C8F1-4A9F-BD61-8F095083F614}" dt="2026-01-15T19:24:30.814" v="1293" actId="1076"/>
          <ac:picMkLst>
            <pc:docMk/>
            <pc:sldMk cId="388374599" sldId="272"/>
            <ac:picMk id="4" creationId="{DD1E38DB-64B7-B642-6CE9-DB18D3826710}"/>
          </ac:picMkLst>
        </pc:picChg>
      </pc:sldChg>
      <pc:sldChg chg="addSp modSp new mod">
        <pc:chgData name="DISHA SURYAWANSHI" userId="83bc4219979222e9" providerId="LiveId" clId="{08B842EB-C8F1-4A9F-BD61-8F095083F614}" dt="2026-01-16T19:19:25.581" v="1588" actId="20577"/>
        <pc:sldMkLst>
          <pc:docMk/>
          <pc:sldMk cId="1080053081" sldId="273"/>
        </pc:sldMkLst>
        <pc:spChg chg="mod">
          <ac:chgData name="DISHA SURYAWANSHI" userId="83bc4219979222e9" providerId="LiveId" clId="{08B842EB-C8F1-4A9F-BD61-8F095083F614}" dt="2026-01-15T19:11:12.330" v="1197" actId="1076"/>
          <ac:spMkLst>
            <pc:docMk/>
            <pc:sldMk cId="1080053081" sldId="273"/>
            <ac:spMk id="2" creationId="{BE84F5C1-E0F5-D4FD-175D-BD84A28FC9DC}"/>
          </ac:spMkLst>
        </pc:spChg>
        <pc:spChg chg="add mod">
          <ac:chgData name="DISHA SURYAWANSHI" userId="83bc4219979222e9" providerId="LiveId" clId="{08B842EB-C8F1-4A9F-BD61-8F095083F614}" dt="2026-01-16T19:19:25.581" v="1588" actId="20577"/>
          <ac:spMkLst>
            <pc:docMk/>
            <pc:sldMk cId="1080053081" sldId="273"/>
            <ac:spMk id="5" creationId="{98E0CACA-FBEE-9B9D-9294-358DAE441660}"/>
          </ac:spMkLst>
        </pc:spChg>
        <pc:picChg chg="add mod">
          <ac:chgData name="DISHA SURYAWANSHI" userId="83bc4219979222e9" providerId="LiveId" clId="{08B842EB-C8F1-4A9F-BD61-8F095083F614}" dt="2026-01-15T19:14:30.523" v="1241" actId="1076"/>
          <ac:picMkLst>
            <pc:docMk/>
            <pc:sldMk cId="1080053081" sldId="273"/>
            <ac:picMk id="4" creationId="{11A02243-0884-C046-024C-64C1816462A7}"/>
          </ac:picMkLst>
        </pc:picChg>
      </pc:sldChg>
      <pc:sldChg chg="addSp modSp new mod">
        <pc:chgData name="DISHA SURYAWANSHI" userId="83bc4219979222e9" providerId="LiveId" clId="{08B842EB-C8F1-4A9F-BD61-8F095083F614}" dt="2026-01-15T19:25:21.765" v="1299" actId="1076"/>
        <pc:sldMkLst>
          <pc:docMk/>
          <pc:sldMk cId="1266681171" sldId="274"/>
        </pc:sldMkLst>
        <pc:spChg chg="mod">
          <ac:chgData name="DISHA SURYAWANSHI" userId="83bc4219979222e9" providerId="LiveId" clId="{08B842EB-C8F1-4A9F-BD61-8F095083F614}" dt="2026-01-15T19:20:28.236" v="1285" actId="1076"/>
          <ac:spMkLst>
            <pc:docMk/>
            <pc:sldMk cId="1266681171" sldId="274"/>
            <ac:spMk id="2" creationId="{5BFC7277-F0C2-78FE-9A49-60DDC829F9A2}"/>
          </ac:spMkLst>
        </pc:spChg>
        <pc:spChg chg="add mod">
          <ac:chgData name="DISHA SURYAWANSHI" userId="83bc4219979222e9" providerId="LiveId" clId="{08B842EB-C8F1-4A9F-BD61-8F095083F614}" dt="2026-01-15T19:25:21.765" v="1299" actId="1076"/>
          <ac:spMkLst>
            <pc:docMk/>
            <pc:sldMk cId="1266681171" sldId="274"/>
            <ac:spMk id="3" creationId="{2458C342-FDCE-1702-6C59-F1A448C1AC3F}"/>
          </ac:spMkLst>
        </pc:spChg>
        <pc:picChg chg="add mod">
          <ac:chgData name="DISHA SURYAWANSHI" userId="83bc4219979222e9" providerId="LiveId" clId="{08B842EB-C8F1-4A9F-BD61-8F095083F614}" dt="2026-01-15T19:20:57.828" v="1289" actId="1076"/>
          <ac:picMkLst>
            <pc:docMk/>
            <pc:sldMk cId="1266681171" sldId="274"/>
            <ac:picMk id="5" creationId="{BD91E4AF-75DC-1DCD-96E4-455BA8939C4D}"/>
          </ac:picMkLst>
        </pc:picChg>
      </pc:sldChg>
      <pc:sldChg chg="addSp delSp modSp new mod">
        <pc:chgData name="DISHA SURYAWANSHI" userId="83bc4219979222e9" providerId="LiveId" clId="{08B842EB-C8F1-4A9F-BD61-8F095083F614}" dt="2026-01-15T19:35:18.121" v="1326" actId="14100"/>
        <pc:sldMkLst>
          <pc:docMk/>
          <pc:sldMk cId="2737943346" sldId="275"/>
        </pc:sldMkLst>
        <pc:spChg chg="mod">
          <ac:chgData name="DISHA SURYAWANSHI" userId="83bc4219979222e9" providerId="LiveId" clId="{08B842EB-C8F1-4A9F-BD61-8F095083F614}" dt="2026-01-15T19:28:08.472" v="1308" actId="1076"/>
          <ac:spMkLst>
            <pc:docMk/>
            <pc:sldMk cId="2737943346" sldId="275"/>
            <ac:spMk id="2" creationId="{62D2B50D-01F0-36C0-436C-3F89963BF4BC}"/>
          </ac:spMkLst>
        </pc:spChg>
        <pc:picChg chg="add mod">
          <ac:chgData name="DISHA SURYAWANSHI" userId="83bc4219979222e9" providerId="LiveId" clId="{08B842EB-C8F1-4A9F-BD61-8F095083F614}" dt="2026-01-15T19:35:18.121" v="1326" actId="14100"/>
          <ac:picMkLst>
            <pc:docMk/>
            <pc:sldMk cId="2737943346" sldId="275"/>
            <ac:picMk id="6" creationId="{EFBBE955-9695-BFA2-9872-65D54A6CD2EF}"/>
          </ac:picMkLst>
        </pc:picChg>
      </pc:sldChg>
      <pc:sldChg chg="modSp new mod">
        <pc:chgData name="DISHA SURYAWANSHI" userId="83bc4219979222e9" providerId="LiveId" clId="{08B842EB-C8F1-4A9F-BD61-8F095083F614}" dt="2026-01-16T19:33:38.761" v="1598" actId="27636"/>
        <pc:sldMkLst>
          <pc:docMk/>
          <pc:sldMk cId="321429545" sldId="276"/>
        </pc:sldMkLst>
        <pc:spChg chg="mod">
          <ac:chgData name="DISHA SURYAWANSHI" userId="83bc4219979222e9" providerId="LiveId" clId="{08B842EB-C8F1-4A9F-BD61-8F095083F614}" dt="2026-01-15T20:07:04.727" v="1473" actId="1076"/>
          <ac:spMkLst>
            <pc:docMk/>
            <pc:sldMk cId="321429545" sldId="276"/>
            <ac:spMk id="2" creationId="{93A84E91-67AB-C567-582E-AD45AD7D46AF}"/>
          </ac:spMkLst>
        </pc:spChg>
        <pc:spChg chg="mod">
          <ac:chgData name="DISHA SURYAWANSHI" userId="83bc4219979222e9" providerId="LiveId" clId="{08B842EB-C8F1-4A9F-BD61-8F095083F614}" dt="2026-01-16T19:33:38.761" v="1598" actId="27636"/>
          <ac:spMkLst>
            <pc:docMk/>
            <pc:sldMk cId="321429545" sldId="276"/>
            <ac:spMk id="3" creationId="{A77B4639-2B20-3B22-88D3-CAD04FB3BAC8}"/>
          </ac:spMkLst>
        </pc:spChg>
      </pc:sldChg>
      <pc:sldChg chg="addSp modSp new mod">
        <pc:chgData name="DISHA SURYAWANSHI" userId="83bc4219979222e9" providerId="LiveId" clId="{08B842EB-C8F1-4A9F-BD61-8F095083F614}" dt="2026-01-16T19:12:55.315" v="1516" actId="14100"/>
        <pc:sldMkLst>
          <pc:docMk/>
          <pc:sldMk cId="2892588814" sldId="277"/>
        </pc:sldMkLst>
        <pc:picChg chg="add mod">
          <ac:chgData name="DISHA SURYAWANSHI" userId="83bc4219979222e9" providerId="LiveId" clId="{08B842EB-C8F1-4A9F-BD61-8F095083F614}" dt="2026-01-16T19:12:55.315" v="1516" actId="14100"/>
          <ac:picMkLst>
            <pc:docMk/>
            <pc:sldMk cId="2892588814" sldId="277"/>
            <ac:picMk id="3" creationId="{9170754B-0CD8-077D-C01A-D281DCC79B01}"/>
          </ac:picMkLst>
        </pc:picChg>
      </pc:sldChg>
      <pc:sldChg chg="modSp new del mod">
        <pc:chgData name="DISHA SURYAWANSHI" userId="83bc4219979222e9" providerId="LiveId" clId="{08B842EB-C8F1-4A9F-BD61-8F095083F614}" dt="2026-01-17T06:01:11.691" v="1607" actId="2696"/>
        <pc:sldMkLst>
          <pc:docMk/>
          <pc:sldMk cId="2259503290" sldId="278"/>
        </pc:sldMkLst>
        <pc:spChg chg="mod">
          <ac:chgData name="DISHA SURYAWANSHI" userId="83bc4219979222e9" providerId="LiveId" clId="{08B842EB-C8F1-4A9F-BD61-8F095083F614}" dt="2026-01-16T19:15:54.715" v="1558" actId="1076"/>
          <ac:spMkLst>
            <pc:docMk/>
            <pc:sldMk cId="2259503290" sldId="278"/>
            <ac:spMk id="2" creationId="{CD8D36B1-EDF1-38AA-346D-7223CA6C4F33}"/>
          </ac:spMkLst>
        </pc:spChg>
        <pc:spChg chg="mod">
          <ac:chgData name="DISHA SURYAWANSHI" userId="83bc4219979222e9" providerId="LiveId" clId="{08B842EB-C8F1-4A9F-BD61-8F095083F614}" dt="2026-01-16T19:15:49.591" v="1557" actId="1076"/>
          <ac:spMkLst>
            <pc:docMk/>
            <pc:sldMk cId="2259503290" sldId="278"/>
            <ac:spMk id="3" creationId="{18201FE8-AA9C-AE1A-173C-F9DFF1593BA7}"/>
          </ac:spMkLst>
        </pc:spChg>
      </pc:sldChg>
      <pc:sldMasterChg chg="delSldLayout">
        <pc:chgData name="DISHA SURYAWANSHI" userId="83bc4219979222e9" providerId="LiveId" clId="{08B842EB-C8F1-4A9F-BD61-8F095083F614}" dt="2026-01-05T10:31:16.397" v="759" actId="2696"/>
        <pc:sldMasterMkLst>
          <pc:docMk/>
          <pc:sldMasterMk cId="0"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linkedin.com/in/dishasuryawanshi0104"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github.com/Dishasuryawanshi010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99" name="Google Shape;99;p1"/>
          <p:cNvSpPr txBox="1"/>
          <p:nvPr/>
        </p:nvSpPr>
        <p:spPr>
          <a:xfrm>
            <a:off x="2472904" y="3786812"/>
            <a:ext cx="7246189" cy="184661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br>
              <a:rPr lang="en-IN" sz="1800" b="0" i="0" u="none" strike="noStrike" cap="none" dirty="0">
                <a:solidFill>
                  <a:schemeClr val="dk1"/>
                </a:solidFill>
                <a:latin typeface="Calibri"/>
                <a:ea typeface="Calibri"/>
                <a:cs typeface="Calibri"/>
                <a:sym typeface="Calibri"/>
              </a:rPr>
            </a:br>
            <a:r>
              <a:rPr lang="en-IN" sz="4800" b="1" dirty="0">
                <a:solidFill>
                  <a:schemeClr val="dk1"/>
                </a:solidFill>
                <a:latin typeface="Calibri"/>
                <a:ea typeface="Calibri"/>
                <a:cs typeface="Calibri"/>
                <a:sym typeface="Calibri"/>
              </a:rPr>
              <a:t>Telecom Customer Churn Analysis</a:t>
            </a:r>
            <a:endParaRPr sz="48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737812" y="1299172"/>
            <a:ext cx="10215324" cy="4093388"/>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200000"/>
              </a:lnSpc>
              <a:spcBef>
                <a:spcPts val="0"/>
              </a:spcBef>
              <a:spcAft>
                <a:spcPts val="0"/>
              </a:spcAft>
              <a:buClr>
                <a:schemeClr val="dk1"/>
              </a:buClr>
              <a:buSzPts val="1800"/>
              <a:buFont typeface="Arial" panose="020B0604020202020204" pitchFamily="34" charset="0"/>
              <a:buChar char="•"/>
            </a:pPr>
            <a:r>
              <a:rPr lang="en-IN" sz="1800" b="1" i="0" u="none" strike="noStrike" cap="none" dirty="0">
                <a:solidFill>
                  <a:schemeClr val="dk1"/>
                </a:solidFill>
                <a:latin typeface="+mn-lt"/>
                <a:ea typeface="Calibri"/>
                <a:cs typeface="Calibri"/>
                <a:sym typeface="Calibri"/>
              </a:rPr>
              <a:t>Name :-  </a:t>
            </a:r>
            <a:r>
              <a:rPr lang="en-IN" sz="1800" i="0" u="none" strike="noStrike" cap="none" dirty="0">
                <a:solidFill>
                  <a:schemeClr val="dk1"/>
                </a:solidFill>
                <a:latin typeface="+mn-lt"/>
                <a:ea typeface="Calibri"/>
                <a:cs typeface="Calibri"/>
                <a:sym typeface="Calibri"/>
              </a:rPr>
              <a:t>Disha Sudhakar </a:t>
            </a:r>
            <a:r>
              <a:rPr lang="en-IN" sz="1800" i="0" u="none" strike="noStrike" cap="none" dirty="0" err="1">
                <a:solidFill>
                  <a:schemeClr val="dk1"/>
                </a:solidFill>
                <a:latin typeface="+mn-lt"/>
                <a:ea typeface="Calibri"/>
                <a:cs typeface="Calibri"/>
                <a:sym typeface="Calibri"/>
              </a:rPr>
              <a:t>Suryawanshi</a:t>
            </a:r>
            <a:r>
              <a:rPr lang="en-IN" sz="1800" i="0" u="none" strike="noStrike" cap="none" dirty="0">
                <a:solidFill>
                  <a:schemeClr val="dk1"/>
                </a:solidFill>
                <a:latin typeface="+mn-lt"/>
                <a:ea typeface="Calibri"/>
                <a:cs typeface="Calibri"/>
                <a:sym typeface="Calibri"/>
              </a:rPr>
              <a:t> </a:t>
            </a:r>
          </a:p>
          <a:p>
            <a:pPr marL="285750" lvl="0" indent="-285750" algn="just">
              <a:lnSpc>
                <a:spcPct val="200000"/>
              </a:lnSpc>
              <a:buClr>
                <a:schemeClr val="dk1"/>
              </a:buClr>
              <a:buSzPts val="1800"/>
              <a:buFont typeface="Arial" panose="020B0604020202020204" pitchFamily="34" charset="0"/>
              <a:buChar char="•"/>
            </a:pPr>
            <a:r>
              <a:rPr lang="en-US" sz="1800" b="1" dirty="0"/>
              <a:t>Education :- </a:t>
            </a:r>
            <a:r>
              <a:rPr lang="en-US" sz="1800" dirty="0"/>
              <a:t>G. H. </a:t>
            </a:r>
            <a:r>
              <a:rPr lang="en-US" sz="1800" dirty="0" err="1"/>
              <a:t>Raisoni</a:t>
            </a:r>
            <a:r>
              <a:rPr lang="en-US" sz="1800" dirty="0"/>
              <a:t> college of engineering and business management ,Jalgaon.</a:t>
            </a:r>
          </a:p>
          <a:p>
            <a:pPr lvl="0" algn="just">
              <a:lnSpc>
                <a:spcPct val="200000"/>
              </a:lnSpc>
              <a:buClr>
                <a:schemeClr val="dk1"/>
              </a:buClr>
              <a:buSzPts val="1800"/>
            </a:pPr>
            <a:r>
              <a:rPr lang="en-US" sz="1800" dirty="0"/>
              <a:t>•   </a:t>
            </a:r>
            <a:r>
              <a:rPr lang="en-US" sz="1800" b="1" dirty="0"/>
              <a:t>Why I Want To Learn Data Science :- </a:t>
            </a:r>
            <a:r>
              <a:rPr lang="en-US" sz="1800" dirty="0"/>
              <a:t> I want to learn data science because ,I’ve always been curious about how companies makes the decision about what customers likes or dislikes, that urge of knowing how this decision making works in companies created my interest in data science .</a:t>
            </a:r>
          </a:p>
          <a:p>
            <a:pPr lvl="0" algn="just">
              <a:lnSpc>
                <a:spcPct val="200000"/>
              </a:lnSpc>
              <a:buClr>
                <a:schemeClr val="dk1"/>
              </a:buClr>
              <a:buSzPts val="1800"/>
            </a:pPr>
            <a:r>
              <a:rPr lang="en-US" sz="1800" dirty="0"/>
              <a:t>• </a:t>
            </a:r>
            <a:r>
              <a:rPr lang="en-US" sz="1800" b="1" dirty="0"/>
              <a:t>Connect With Me :-  </a:t>
            </a:r>
            <a:r>
              <a:rPr lang="en-US" sz="1800" dirty="0"/>
              <a:t>LinkedIn -  </a:t>
            </a:r>
            <a:r>
              <a:rPr lang="en-IN" sz="2000" dirty="0">
                <a:hlinkClick r:id="rId3"/>
              </a:rPr>
              <a:t>www.linkedin.com/in/dishasuryawanshi0104</a:t>
            </a:r>
            <a:r>
              <a:rPr lang="en-IN" sz="2000" dirty="0"/>
              <a:t> </a:t>
            </a:r>
          </a:p>
          <a:p>
            <a:pPr lvl="0" algn="just">
              <a:lnSpc>
                <a:spcPct val="200000"/>
              </a:lnSpc>
              <a:buClr>
                <a:schemeClr val="dk1"/>
              </a:buClr>
              <a:buSzPts val="1800"/>
            </a:pPr>
            <a:r>
              <a:rPr lang="en-US" sz="1800" dirty="0"/>
              <a:t>   		        GitHub -  </a:t>
            </a:r>
            <a:r>
              <a:rPr lang="en-US" sz="2000" dirty="0">
                <a:hlinkClick r:id="rId4"/>
              </a:rPr>
              <a:t>https://github.com/Dishasuryawanshi0104</a:t>
            </a:r>
            <a:r>
              <a:rPr lang="en-US" sz="2000" dirty="0"/>
              <a:t> </a:t>
            </a:r>
            <a:endParaRPr sz="2000" b="1" i="0" u="none" strike="noStrike" cap="none" dirty="0">
              <a:solidFill>
                <a:schemeClr val="dk1"/>
              </a:solidFill>
              <a:latin typeface="Calibri"/>
              <a:ea typeface="Calibri"/>
              <a:cs typeface="Calibri"/>
              <a:sym typeface="Calibri"/>
            </a:endParaRPr>
          </a:p>
        </p:txBody>
      </p:sp>
      <p:sp>
        <p:nvSpPr>
          <p:cNvPr id="105" name="Google Shape;105;p3"/>
          <p:cNvSpPr txBox="1"/>
          <p:nvPr/>
        </p:nvSpPr>
        <p:spPr>
          <a:xfrm>
            <a:off x="619826" y="567292"/>
            <a:ext cx="6099463" cy="535491"/>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600" b="0" i="0"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Lato Black"/>
              </a:rPr>
              <a:t>About me :-</a:t>
            </a:r>
            <a:endParaRPr sz="3600" b="0" i="0"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7573F-B340-F2DF-89D4-5F1159486F05}"/>
              </a:ext>
            </a:extLst>
          </p:cNvPr>
          <p:cNvSpPr>
            <a:spLocks noGrp="1"/>
          </p:cNvSpPr>
          <p:nvPr>
            <p:ph type="title"/>
          </p:nvPr>
        </p:nvSpPr>
        <p:spPr>
          <a:xfrm>
            <a:off x="838200" y="365125"/>
            <a:ext cx="10515600" cy="942565"/>
          </a:xfrm>
        </p:spPr>
        <p:txBody>
          <a:bodyPr>
            <a:normAutofit/>
          </a:bodyPr>
          <a:lstStyle/>
          <a:p>
            <a:r>
              <a:rPr lang="en-IN" sz="3600" dirty="0">
                <a:solidFill>
                  <a:srgbClr val="FF0000"/>
                </a:solidFill>
              </a:rPr>
              <a:t>Business Objectives :- </a:t>
            </a:r>
          </a:p>
        </p:txBody>
      </p:sp>
      <p:sp>
        <p:nvSpPr>
          <p:cNvPr id="4" name="Rectangle 1">
            <a:extLst>
              <a:ext uri="{FF2B5EF4-FFF2-40B4-BE49-F238E27FC236}">
                <a16:creationId xmlns:a16="http://schemas.microsoft.com/office/drawing/2014/main" id="{E190D7D4-BD23-BA45-22F3-32B9336EBC2C}"/>
              </a:ext>
            </a:extLst>
          </p:cNvPr>
          <p:cNvSpPr>
            <a:spLocks noGrp="1" noChangeArrowheads="1"/>
          </p:cNvSpPr>
          <p:nvPr>
            <p:ph type="body" idx="1"/>
          </p:nvPr>
        </p:nvSpPr>
        <p:spPr bwMode="auto">
          <a:xfrm>
            <a:off x="592394" y="1307690"/>
            <a:ext cx="1134396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lnSpc>
                <a:spcPct val="150000"/>
              </a:lnSpc>
              <a:spcBef>
                <a:spcPct val="0"/>
              </a:spcBef>
              <a:spcAft>
                <a:spcPct val="0"/>
              </a:spcAft>
              <a:buClrTx/>
              <a:buSzTx/>
            </a:pPr>
            <a:r>
              <a:rPr kumimoji="0" lang="en-US" altLang="en-US" sz="2400" b="0" i="0" u="none" strike="noStrike" cap="none" normalizeH="0" baseline="0" dirty="0">
                <a:ln>
                  <a:noFill/>
                </a:ln>
                <a:solidFill>
                  <a:schemeClr val="tx1"/>
                </a:solidFill>
                <a:effectLst/>
                <a:latin typeface="Arial" panose="020B0604020202020204" pitchFamily="34" charset="0"/>
              </a:rPr>
              <a:t>To Identify customers who are most likely to churn.</a:t>
            </a:r>
          </a:p>
          <a:p>
            <a:pPr marL="285750" indent="-285750" eaLnBrk="0" fontAlgn="base" hangingPunct="0">
              <a:lnSpc>
                <a:spcPct val="150000"/>
              </a:lnSpc>
              <a:spcBef>
                <a:spcPct val="0"/>
              </a:spcBef>
              <a:spcAft>
                <a:spcPct val="0"/>
              </a:spcAft>
              <a:buClrTx/>
              <a:buSzTx/>
            </a:pPr>
            <a:r>
              <a:rPr kumimoji="0" lang="en-US" altLang="en-US" sz="2400" b="0" i="0" u="none" strike="noStrike" cap="none" normalizeH="0" baseline="0" dirty="0">
                <a:ln>
                  <a:noFill/>
                </a:ln>
                <a:solidFill>
                  <a:schemeClr val="tx1"/>
                </a:solidFill>
                <a:effectLst/>
                <a:latin typeface="Arial" panose="020B0604020202020204" pitchFamily="34" charset="0"/>
              </a:rPr>
              <a:t>To Analyze churn behavior across customer demographics (gender, senior citizen).</a:t>
            </a:r>
          </a:p>
          <a:p>
            <a:pPr marL="285750" indent="-285750" eaLnBrk="0" fontAlgn="base" hangingPunct="0">
              <a:lnSpc>
                <a:spcPct val="150000"/>
              </a:lnSpc>
              <a:spcBef>
                <a:spcPct val="0"/>
              </a:spcBef>
              <a:spcAft>
                <a:spcPct val="0"/>
              </a:spcAft>
              <a:buClrTx/>
              <a:buSzTx/>
            </a:pPr>
            <a:r>
              <a:rPr kumimoji="0" lang="en-US" altLang="en-US" sz="2400" b="0" i="0" u="none" strike="noStrike" cap="none" normalizeH="0" baseline="0" dirty="0">
                <a:ln>
                  <a:noFill/>
                </a:ln>
                <a:solidFill>
                  <a:schemeClr val="tx1"/>
                </a:solidFill>
                <a:effectLst/>
                <a:latin typeface="Arial" panose="020B0604020202020204" pitchFamily="34" charset="0"/>
              </a:rPr>
              <a:t>To Understand the impact of services, contract type, tenure, and billing on churn.</a:t>
            </a:r>
          </a:p>
          <a:p>
            <a:pPr marL="285750" indent="-285750" eaLnBrk="0" fontAlgn="base" hangingPunct="0">
              <a:lnSpc>
                <a:spcPct val="150000"/>
              </a:lnSpc>
              <a:spcBef>
                <a:spcPct val="0"/>
              </a:spcBef>
              <a:spcAft>
                <a:spcPct val="0"/>
              </a:spcAft>
              <a:buClrTx/>
              <a:buSzTx/>
            </a:pPr>
            <a:r>
              <a:rPr kumimoji="0" lang="en-US" altLang="en-US" sz="2400" b="0" i="0" u="none" strike="noStrike" cap="none" normalizeH="0" baseline="0" dirty="0">
                <a:ln>
                  <a:noFill/>
                </a:ln>
                <a:solidFill>
                  <a:schemeClr val="tx1"/>
                </a:solidFill>
                <a:effectLst/>
                <a:latin typeface="Arial" panose="020B0604020202020204" pitchFamily="34" charset="0"/>
              </a:rPr>
              <a:t>To Measure overall churn rate and key customer KPIs.</a:t>
            </a:r>
          </a:p>
          <a:p>
            <a:pPr marL="285750" indent="-285750" eaLnBrk="0" fontAlgn="base" hangingPunct="0">
              <a:lnSpc>
                <a:spcPct val="150000"/>
              </a:lnSpc>
              <a:spcBef>
                <a:spcPct val="0"/>
              </a:spcBef>
              <a:spcAft>
                <a:spcPct val="0"/>
              </a:spcAft>
              <a:buClrTx/>
              <a:buSzTx/>
            </a:pPr>
            <a:r>
              <a:rPr kumimoji="0" lang="en-US" altLang="en-US" sz="2400" b="0" i="0" u="none" strike="noStrike" cap="none" normalizeH="0" baseline="0" dirty="0">
                <a:ln>
                  <a:noFill/>
                </a:ln>
                <a:solidFill>
                  <a:schemeClr val="tx1"/>
                </a:solidFill>
                <a:effectLst/>
                <a:latin typeface="Arial" panose="020B0604020202020204" pitchFamily="34" charset="0"/>
              </a:rPr>
              <a:t>To Enable interactive analysis through Power BI dashboards for informed decision-making.</a:t>
            </a:r>
          </a:p>
        </p:txBody>
      </p:sp>
    </p:spTree>
    <p:extLst>
      <p:ext uri="{BB962C8B-B14F-4D97-AF65-F5344CB8AC3E}">
        <p14:creationId xmlns:p14="http://schemas.microsoft.com/office/powerpoint/2010/main" val="3459129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9F01E-624C-B07F-9826-0EFF91805169}"/>
              </a:ext>
            </a:extLst>
          </p:cNvPr>
          <p:cNvSpPr>
            <a:spLocks noGrp="1"/>
          </p:cNvSpPr>
          <p:nvPr>
            <p:ph type="title"/>
          </p:nvPr>
        </p:nvSpPr>
        <p:spPr>
          <a:xfrm>
            <a:off x="838200" y="365126"/>
            <a:ext cx="10515600" cy="1040888"/>
          </a:xfrm>
        </p:spPr>
        <p:txBody>
          <a:bodyPr>
            <a:normAutofit/>
          </a:bodyPr>
          <a:lstStyle/>
          <a:p>
            <a:r>
              <a:rPr lang="en-IN" sz="3600" dirty="0">
                <a:solidFill>
                  <a:srgbClr val="FF0000"/>
                </a:solidFill>
              </a:rPr>
              <a:t>Approach of Business Objective -</a:t>
            </a:r>
          </a:p>
        </p:txBody>
      </p:sp>
      <p:sp>
        <p:nvSpPr>
          <p:cNvPr id="5" name="Rectangle 2">
            <a:extLst>
              <a:ext uri="{FF2B5EF4-FFF2-40B4-BE49-F238E27FC236}">
                <a16:creationId xmlns:a16="http://schemas.microsoft.com/office/drawing/2014/main" id="{6CB6E952-696E-A0AD-1579-610AB1E46F4D}"/>
              </a:ext>
            </a:extLst>
          </p:cNvPr>
          <p:cNvSpPr>
            <a:spLocks noGrp="1" noChangeArrowheads="1"/>
          </p:cNvSpPr>
          <p:nvPr>
            <p:ph type="body" idx="1"/>
          </p:nvPr>
        </p:nvSpPr>
        <p:spPr bwMode="auto">
          <a:xfrm>
            <a:off x="727587" y="1406014"/>
            <a:ext cx="10626213"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lnSpc>
                <a:spcPct val="150000"/>
              </a:lnSpc>
              <a:spcBef>
                <a:spcPct val="0"/>
              </a:spcBef>
              <a:spcAft>
                <a:spcPct val="0"/>
              </a:spcAft>
              <a:buClrTx/>
              <a:buSzTx/>
            </a:pPr>
            <a:r>
              <a:rPr kumimoji="0" lang="en-US" altLang="en-US" sz="2000" b="0" i="0" u="none" strike="noStrike" cap="none" normalizeH="0" baseline="0" dirty="0">
                <a:ln>
                  <a:noFill/>
                </a:ln>
                <a:solidFill>
                  <a:schemeClr val="tx1"/>
                </a:solidFill>
                <a:effectLst/>
                <a:latin typeface="Arial" panose="020B0604020202020204" pitchFamily="34" charset="0"/>
              </a:rPr>
              <a:t>Collected and understood telecom customer data related to demographics, services, billing, and churn.</a:t>
            </a:r>
          </a:p>
          <a:p>
            <a:pPr marL="285750" indent="-285750" eaLnBrk="0" fontAlgn="base" hangingPunct="0">
              <a:lnSpc>
                <a:spcPct val="150000"/>
              </a:lnSpc>
              <a:spcBef>
                <a:spcPct val="0"/>
              </a:spcBef>
              <a:spcAft>
                <a:spcPct val="0"/>
              </a:spcAft>
              <a:buClrTx/>
              <a:buSzTx/>
            </a:pPr>
            <a:r>
              <a:rPr kumimoji="0" lang="en-US" altLang="en-US" sz="2000" b="0" i="0" u="none" strike="noStrike" cap="none" normalizeH="0" baseline="0" dirty="0">
                <a:ln>
                  <a:noFill/>
                </a:ln>
                <a:solidFill>
                  <a:schemeClr val="tx1"/>
                </a:solidFill>
                <a:effectLst/>
                <a:latin typeface="Arial" panose="020B0604020202020204" pitchFamily="34" charset="0"/>
              </a:rPr>
              <a:t>Cleaned and transformed the data using Power Query to ensure accuracy and consistency.</a:t>
            </a:r>
          </a:p>
          <a:p>
            <a:pPr marL="285750" indent="-285750" eaLnBrk="0" fontAlgn="base" hangingPunct="0">
              <a:lnSpc>
                <a:spcPct val="150000"/>
              </a:lnSpc>
              <a:spcBef>
                <a:spcPct val="0"/>
              </a:spcBef>
              <a:spcAft>
                <a:spcPct val="0"/>
              </a:spcAft>
              <a:buClrTx/>
              <a:buSzTx/>
            </a:pPr>
            <a:r>
              <a:rPr kumimoji="0" lang="en-US" altLang="en-US" sz="2000" b="0" i="0" u="none" strike="noStrike" cap="none" normalizeH="0" baseline="0" dirty="0">
                <a:ln>
                  <a:noFill/>
                </a:ln>
                <a:solidFill>
                  <a:schemeClr val="tx1"/>
                </a:solidFill>
                <a:effectLst/>
                <a:latin typeface="Arial" panose="020B0604020202020204" pitchFamily="34" charset="0"/>
              </a:rPr>
              <a:t>Segmented customers based on demographics (gender, senior citizen), tenure, contract type, and services.</a:t>
            </a:r>
          </a:p>
          <a:p>
            <a:pPr marL="285750" indent="-285750" eaLnBrk="0" fontAlgn="base" hangingPunct="0">
              <a:lnSpc>
                <a:spcPct val="150000"/>
              </a:lnSpc>
              <a:spcBef>
                <a:spcPct val="0"/>
              </a:spcBef>
              <a:spcAft>
                <a:spcPct val="0"/>
              </a:spcAft>
              <a:buClrTx/>
              <a:buSzTx/>
            </a:pPr>
            <a:r>
              <a:rPr kumimoji="0" lang="en-US" altLang="en-US" sz="2000" b="0" i="0" u="none" strike="noStrike" cap="none" normalizeH="0" baseline="0" dirty="0">
                <a:ln>
                  <a:noFill/>
                </a:ln>
                <a:solidFill>
                  <a:schemeClr val="tx1"/>
                </a:solidFill>
                <a:effectLst/>
                <a:latin typeface="Arial" panose="020B0604020202020204" pitchFamily="34" charset="0"/>
              </a:rPr>
              <a:t>Analyzed churn trends across different customer segments using interactive visuals.</a:t>
            </a:r>
          </a:p>
          <a:p>
            <a:pPr marL="285750" indent="-285750" eaLnBrk="0" fontAlgn="base" hangingPunct="0">
              <a:lnSpc>
                <a:spcPct val="150000"/>
              </a:lnSpc>
              <a:spcBef>
                <a:spcPct val="0"/>
              </a:spcBef>
              <a:spcAft>
                <a:spcPct val="0"/>
              </a:spcAft>
              <a:buClrTx/>
              <a:buSzTx/>
            </a:pPr>
            <a:r>
              <a:rPr kumimoji="0" lang="en-US" altLang="en-US" sz="2000" b="0" i="0" u="none" strike="noStrike" cap="none" normalizeH="0" baseline="0" dirty="0">
                <a:ln>
                  <a:noFill/>
                </a:ln>
                <a:solidFill>
                  <a:schemeClr val="tx1"/>
                </a:solidFill>
                <a:effectLst/>
                <a:latin typeface="Arial" panose="020B0604020202020204" pitchFamily="34" charset="0"/>
              </a:rPr>
              <a:t>Built an interactive Power BI dashboard with slicers for deeper analysis.</a:t>
            </a:r>
          </a:p>
          <a:p>
            <a:pPr marL="285750" indent="-285750" eaLnBrk="0" fontAlgn="base" hangingPunct="0">
              <a:lnSpc>
                <a:spcPct val="150000"/>
              </a:lnSpc>
              <a:spcBef>
                <a:spcPct val="0"/>
              </a:spcBef>
              <a:spcAft>
                <a:spcPct val="0"/>
              </a:spcAft>
              <a:buClrTx/>
              <a:buSzTx/>
            </a:pPr>
            <a:r>
              <a:rPr kumimoji="0" lang="en-US" altLang="en-US" sz="2000" b="0" i="0" u="none" strike="noStrike" cap="none" normalizeH="0" baseline="0" dirty="0">
                <a:ln>
                  <a:noFill/>
                </a:ln>
                <a:solidFill>
                  <a:schemeClr val="tx1"/>
                </a:solidFill>
                <a:effectLst/>
                <a:latin typeface="Arial" panose="020B0604020202020204" pitchFamily="34" charset="0"/>
              </a:rPr>
              <a:t>Derived actionable insights to support business decisions for reducing customer churn</a:t>
            </a:r>
          </a:p>
        </p:txBody>
      </p:sp>
    </p:spTree>
    <p:extLst>
      <p:ext uri="{BB962C8B-B14F-4D97-AF65-F5344CB8AC3E}">
        <p14:creationId xmlns:p14="http://schemas.microsoft.com/office/powerpoint/2010/main" val="3827328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A2BCF-A417-2DD6-A2EF-EAF7A9C2A29E}"/>
              </a:ext>
            </a:extLst>
          </p:cNvPr>
          <p:cNvSpPr>
            <a:spLocks noGrp="1"/>
          </p:cNvSpPr>
          <p:nvPr>
            <p:ph type="title"/>
          </p:nvPr>
        </p:nvSpPr>
        <p:spPr>
          <a:xfrm>
            <a:off x="838200" y="365125"/>
            <a:ext cx="10515600" cy="706591"/>
          </a:xfrm>
        </p:spPr>
        <p:txBody>
          <a:bodyPr/>
          <a:lstStyle/>
          <a:p>
            <a:pPr algn="ctr"/>
            <a:r>
              <a:rPr lang="en-IN" dirty="0">
                <a:solidFill>
                  <a:srgbClr val="FF0000"/>
                </a:solidFill>
              </a:rPr>
              <a:t>Churn Rate By Internet Service</a:t>
            </a:r>
          </a:p>
        </p:txBody>
      </p:sp>
      <p:pic>
        <p:nvPicPr>
          <p:cNvPr id="4" name="Picture 3">
            <a:extLst>
              <a:ext uri="{FF2B5EF4-FFF2-40B4-BE49-F238E27FC236}">
                <a16:creationId xmlns:a16="http://schemas.microsoft.com/office/drawing/2014/main" id="{8DEE8A6D-752D-1425-BFC2-E5B7219692E3}"/>
              </a:ext>
            </a:extLst>
          </p:cNvPr>
          <p:cNvPicPr>
            <a:picLocks noChangeAspect="1"/>
          </p:cNvPicPr>
          <p:nvPr/>
        </p:nvPicPr>
        <p:blipFill>
          <a:blip r:embed="rId2"/>
          <a:stretch>
            <a:fillRect/>
          </a:stretch>
        </p:blipFill>
        <p:spPr>
          <a:xfrm>
            <a:off x="7358289" y="1815990"/>
            <a:ext cx="4409951" cy="3454100"/>
          </a:xfrm>
          <a:prstGeom prst="rect">
            <a:avLst/>
          </a:prstGeom>
        </p:spPr>
      </p:pic>
      <p:sp>
        <p:nvSpPr>
          <p:cNvPr id="5" name="TextBox 4">
            <a:extLst>
              <a:ext uri="{FF2B5EF4-FFF2-40B4-BE49-F238E27FC236}">
                <a16:creationId xmlns:a16="http://schemas.microsoft.com/office/drawing/2014/main" id="{C6A5272E-68DD-2746-5A8F-623BE812CA24}"/>
              </a:ext>
            </a:extLst>
          </p:cNvPr>
          <p:cNvSpPr txBox="1"/>
          <p:nvPr/>
        </p:nvSpPr>
        <p:spPr>
          <a:xfrm>
            <a:off x="572730" y="1508859"/>
            <a:ext cx="6014884" cy="3840282"/>
          </a:xfrm>
          <a:prstGeom prst="rect">
            <a:avLst/>
          </a:prstGeom>
          <a:noFill/>
        </p:spPr>
        <p:txBody>
          <a:bodyPr wrap="square" rtlCol="0">
            <a:spAutoFit/>
          </a:bodyPr>
          <a:lstStyle/>
          <a:p>
            <a:r>
              <a:rPr lang="en-IN" sz="3200" b="1" dirty="0">
                <a:solidFill>
                  <a:schemeClr val="tx1"/>
                </a:solidFill>
              </a:rPr>
              <a:t>Insights – </a:t>
            </a:r>
          </a:p>
          <a:p>
            <a:pPr marL="285750" indent="-285750" algn="just">
              <a:lnSpc>
                <a:spcPct val="150000"/>
              </a:lnSpc>
              <a:buFont typeface="Arial" panose="020B0604020202020204" pitchFamily="34" charset="0"/>
              <a:buChar char="•"/>
            </a:pPr>
            <a:r>
              <a:rPr lang="en-US" sz="2400" dirty="0"/>
              <a:t>Fiber Optic customers show the highest churn rate.</a:t>
            </a:r>
          </a:p>
          <a:p>
            <a:pPr marL="285750" indent="-285750" algn="just">
              <a:lnSpc>
                <a:spcPct val="150000"/>
              </a:lnSpc>
              <a:buFont typeface="Arial" panose="020B0604020202020204" pitchFamily="34" charset="0"/>
              <a:buChar char="•"/>
            </a:pPr>
            <a:r>
              <a:rPr lang="en-US" sz="2400" dirty="0"/>
              <a:t>DSL customers have a comparatively lower churn rate than Fiber Optic.</a:t>
            </a:r>
          </a:p>
          <a:p>
            <a:pPr marL="285750" indent="-285750" algn="just">
              <a:lnSpc>
                <a:spcPct val="150000"/>
              </a:lnSpc>
              <a:buFont typeface="Arial" panose="020B0604020202020204" pitchFamily="34" charset="0"/>
              <a:buChar char="•"/>
            </a:pPr>
            <a:r>
              <a:rPr lang="en-US" sz="2400" dirty="0"/>
              <a:t>Customers with no internet service have the lowest churn contribution.</a:t>
            </a:r>
            <a:endParaRPr lang="en-IN" sz="2400" dirty="0"/>
          </a:p>
        </p:txBody>
      </p:sp>
    </p:spTree>
    <p:extLst>
      <p:ext uri="{BB962C8B-B14F-4D97-AF65-F5344CB8AC3E}">
        <p14:creationId xmlns:p14="http://schemas.microsoft.com/office/powerpoint/2010/main" val="3335758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E8098-BC8A-BCDC-D0B1-B8880C3CBA5A}"/>
              </a:ext>
            </a:extLst>
          </p:cNvPr>
          <p:cNvSpPr>
            <a:spLocks noGrp="1"/>
          </p:cNvSpPr>
          <p:nvPr>
            <p:ph type="title"/>
          </p:nvPr>
        </p:nvSpPr>
        <p:spPr>
          <a:xfrm>
            <a:off x="471947" y="188145"/>
            <a:ext cx="11208775" cy="804914"/>
          </a:xfrm>
        </p:spPr>
        <p:txBody>
          <a:bodyPr>
            <a:normAutofit/>
          </a:bodyPr>
          <a:lstStyle/>
          <a:p>
            <a:pPr algn="ctr"/>
            <a:r>
              <a:rPr lang="en-IN" dirty="0">
                <a:solidFill>
                  <a:srgbClr val="FF0000"/>
                </a:solidFill>
              </a:rPr>
              <a:t>Count of </a:t>
            </a:r>
            <a:r>
              <a:rPr lang="en-IN" dirty="0" err="1">
                <a:solidFill>
                  <a:srgbClr val="FF0000"/>
                </a:solidFill>
              </a:rPr>
              <a:t>Customer_ID</a:t>
            </a:r>
            <a:r>
              <a:rPr lang="en-IN" dirty="0">
                <a:solidFill>
                  <a:srgbClr val="FF0000"/>
                </a:solidFill>
              </a:rPr>
              <a:t> by Tenure Group</a:t>
            </a:r>
          </a:p>
        </p:txBody>
      </p:sp>
      <p:pic>
        <p:nvPicPr>
          <p:cNvPr id="4" name="Picture 3">
            <a:extLst>
              <a:ext uri="{FF2B5EF4-FFF2-40B4-BE49-F238E27FC236}">
                <a16:creationId xmlns:a16="http://schemas.microsoft.com/office/drawing/2014/main" id="{4F8E05EA-B4DA-E8AC-ACC5-F9C996FC3B91}"/>
              </a:ext>
            </a:extLst>
          </p:cNvPr>
          <p:cNvPicPr>
            <a:picLocks noChangeAspect="1"/>
          </p:cNvPicPr>
          <p:nvPr/>
        </p:nvPicPr>
        <p:blipFill>
          <a:blip r:embed="rId2"/>
          <a:stretch>
            <a:fillRect/>
          </a:stretch>
        </p:blipFill>
        <p:spPr>
          <a:xfrm>
            <a:off x="6833419" y="1652024"/>
            <a:ext cx="5047390" cy="3553952"/>
          </a:xfrm>
          <a:prstGeom prst="rect">
            <a:avLst/>
          </a:prstGeom>
        </p:spPr>
      </p:pic>
      <p:sp>
        <p:nvSpPr>
          <p:cNvPr id="5" name="TextBox 4">
            <a:extLst>
              <a:ext uri="{FF2B5EF4-FFF2-40B4-BE49-F238E27FC236}">
                <a16:creationId xmlns:a16="http://schemas.microsoft.com/office/drawing/2014/main" id="{BCA26947-8BA6-E992-CAEC-66F2FBDC7E10}"/>
              </a:ext>
            </a:extLst>
          </p:cNvPr>
          <p:cNvSpPr txBox="1"/>
          <p:nvPr/>
        </p:nvSpPr>
        <p:spPr>
          <a:xfrm>
            <a:off x="311191" y="1415844"/>
            <a:ext cx="6154995" cy="4339650"/>
          </a:xfrm>
          <a:prstGeom prst="rect">
            <a:avLst/>
          </a:prstGeom>
          <a:noFill/>
        </p:spPr>
        <p:txBody>
          <a:bodyPr wrap="square" rtlCol="0">
            <a:spAutoFit/>
          </a:bodyPr>
          <a:lstStyle/>
          <a:p>
            <a:pPr algn="just"/>
            <a:r>
              <a:rPr lang="en-IN" sz="3200" b="1" dirty="0"/>
              <a:t>Insights – </a:t>
            </a:r>
          </a:p>
          <a:p>
            <a:pPr marL="285750" indent="-285750" algn="just">
              <a:lnSpc>
                <a:spcPct val="150000"/>
              </a:lnSpc>
              <a:buFont typeface="Arial" panose="020B0604020202020204" pitchFamily="34" charset="0"/>
              <a:buChar char="•"/>
            </a:pPr>
            <a:r>
              <a:rPr lang="en-US" sz="2400" dirty="0"/>
              <a:t>The highest number of customers fall in the 0–12 months tenure group</a:t>
            </a:r>
            <a:r>
              <a:rPr lang="en-IN" sz="2400" dirty="0"/>
              <a:t>.</a:t>
            </a:r>
          </a:p>
          <a:p>
            <a:pPr marL="285750" indent="-285750" algn="just">
              <a:lnSpc>
                <a:spcPct val="150000"/>
              </a:lnSpc>
              <a:buFont typeface="Arial" panose="020B0604020202020204" pitchFamily="34" charset="0"/>
              <a:buChar char="•"/>
            </a:pPr>
            <a:r>
              <a:rPr lang="en-US" sz="2400" dirty="0"/>
              <a:t>Customer count decreases as tenure increases</a:t>
            </a:r>
            <a:endParaRPr lang="en-IN" sz="2400" dirty="0"/>
          </a:p>
          <a:p>
            <a:pPr marL="285750" indent="-285750" algn="just">
              <a:lnSpc>
                <a:spcPct val="150000"/>
              </a:lnSpc>
              <a:buFont typeface="Arial" panose="020B0604020202020204" pitchFamily="34" charset="0"/>
              <a:buChar char="•"/>
            </a:pPr>
            <a:r>
              <a:rPr lang="en-US" sz="2400" dirty="0"/>
              <a:t>Long-tenure customers (37+ months) form a smaller but stable customer base.</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endParaRPr lang="en-US" dirty="0"/>
          </a:p>
        </p:txBody>
      </p:sp>
    </p:spTree>
    <p:extLst>
      <p:ext uri="{BB962C8B-B14F-4D97-AF65-F5344CB8AC3E}">
        <p14:creationId xmlns:p14="http://schemas.microsoft.com/office/powerpoint/2010/main" val="2165261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18B77-AC68-3766-7028-232CCC8B1ADC}"/>
              </a:ext>
            </a:extLst>
          </p:cNvPr>
          <p:cNvSpPr>
            <a:spLocks noGrp="1"/>
          </p:cNvSpPr>
          <p:nvPr>
            <p:ph type="title"/>
          </p:nvPr>
        </p:nvSpPr>
        <p:spPr>
          <a:xfrm>
            <a:off x="838200" y="119318"/>
            <a:ext cx="10515600" cy="903237"/>
          </a:xfrm>
        </p:spPr>
        <p:txBody>
          <a:bodyPr>
            <a:normAutofit/>
          </a:bodyPr>
          <a:lstStyle/>
          <a:p>
            <a:pPr algn="ctr"/>
            <a:r>
              <a:rPr lang="en-US" dirty="0">
                <a:solidFill>
                  <a:srgbClr val="FF0000"/>
                </a:solidFill>
              </a:rPr>
              <a:t>Churn Rate by Contract Type</a:t>
            </a:r>
            <a:endParaRPr lang="en-IN" dirty="0">
              <a:solidFill>
                <a:srgbClr val="FF0000"/>
              </a:solidFill>
            </a:endParaRPr>
          </a:p>
        </p:txBody>
      </p:sp>
      <p:pic>
        <p:nvPicPr>
          <p:cNvPr id="4" name="Picture 3">
            <a:extLst>
              <a:ext uri="{FF2B5EF4-FFF2-40B4-BE49-F238E27FC236}">
                <a16:creationId xmlns:a16="http://schemas.microsoft.com/office/drawing/2014/main" id="{DD1E38DB-64B7-B642-6CE9-DB18D3826710}"/>
              </a:ext>
            </a:extLst>
          </p:cNvPr>
          <p:cNvPicPr>
            <a:picLocks noChangeAspect="1"/>
          </p:cNvPicPr>
          <p:nvPr/>
        </p:nvPicPr>
        <p:blipFill>
          <a:blip r:embed="rId2"/>
          <a:stretch>
            <a:fillRect/>
          </a:stretch>
        </p:blipFill>
        <p:spPr>
          <a:xfrm>
            <a:off x="7242057" y="1828838"/>
            <a:ext cx="4629796" cy="3520303"/>
          </a:xfrm>
          <a:prstGeom prst="rect">
            <a:avLst/>
          </a:prstGeom>
        </p:spPr>
      </p:pic>
      <p:sp>
        <p:nvSpPr>
          <p:cNvPr id="5" name="TextBox 4">
            <a:extLst>
              <a:ext uri="{FF2B5EF4-FFF2-40B4-BE49-F238E27FC236}">
                <a16:creationId xmlns:a16="http://schemas.microsoft.com/office/drawing/2014/main" id="{90AE0AFE-C3FD-60EB-E509-21842D2D079B}"/>
              </a:ext>
            </a:extLst>
          </p:cNvPr>
          <p:cNvSpPr txBox="1"/>
          <p:nvPr/>
        </p:nvSpPr>
        <p:spPr>
          <a:xfrm>
            <a:off x="432619" y="1508859"/>
            <a:ext cx="6331974" cy="3840282"/>
          </a:xfrm>
          <a:prstGeom prst="rect">
            <a:avLst/>
          </a:prstGeom>
          <a:noFill/>
        </p:spPr>
        <p:txBody>
          <a:bodyPr wrap="square" rtlCol="0">
            <a:spAutoFit/>
          </a:bodyPr>
          <a:lstStyle/>
          <a:p>
            <a:r>
              <a:rPr lang="en-IN" sz="3200" b="1" dirty="0">
                <a:solidFill>
                  <a:schemeClr val="tx1"/>
                </a:solidFill>
              </a:rPr>
              <a:t>Insights –</a:t>
            </a:r>
          </a:p>
          <a:p>
            <a:pPr marL="457200" indent="-457200" algn="just">
              <a:lnSpc>
                <a:spcPct val="150000"/>
              </a:lnSpc>
              <a:buFont typeface="Arial" panose="020B0604020202020204" pitchFamily="34" charset="0"/>
              <a:buChar char="•"/>
            </a:pPr>
            <a:r>
              <a:rPr lang="en-US" sz="2400" dirty="0"/>
              <a:t>Month-to-Month contracts have the highest churn rate.</a:t>
            </a:r>
          </a:p>
          <a:p>
            <a:pPr marL="457200" indent="-457200" algn="just">
              <a:lnSpc>
                <a:spcPct val="150000"/>
              </a:lnSpc>
              <a:buFont typeface="Arial" panose="020B0604020202020204" pitchFamily="34" charset="0"/>
              <a:buChar char="•"/>
            </a:pPr>
            <a:r>
              <a:rPr lang="en-US" sz="2400" dirty="0"/>
              <a:t>Churn rate drops sharply for One-Year contracts.</a:t>
            </a:r>
          </a:p>
          <a:p>
            <a:pPr marL="457200" indent="-457200" algn="just">
              <a:lnSpc>
                <a:spcPct val="150000"/>
              </a:lnSpc>
              <a:buFont typeface="Arial" panose="020B0604020202020204" pitchFamily="34" charset="0"/>
              <a:buChar char="•"/>
            </a:pPr>
            <a:r>
              <a:rPr lang="en-US" sz="2400" dirty="0"/>
              <a:t>Two-Year contracts have the lowest churn rate.</a:t>
            </a:r>
            <a:endParaRPr lang="en-IN" sz="2400" dirty="0">
              <a:solidFill>
                <a:schemeClr val="tx1"/>
              </a:solidFill>
            </a:endParaRPr>
          </a:p>
        </p:txBody>
      </p:sp>
    </p:spTree>
    <p:extLst>
      <p:ext uri="{BB962C8B-B14F-4D97-AF65-F5344CB8AC3E}">
        <p14:creationId xmlns:p14="http://schemas.microsoft.com/office/powerpoint/2010/main" val="388374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4F5C1-E0F5-D4FD-175D-BD84A28FC9DC}"/>
              </a:ext>
            </a:extLst>
          </p:cNvPr>
          <p:cNvSpPr>
            <a:spLocks noGrp="1"/>
          </p:cNvSpPr>
          <p:nvPr>
            <p:ph type="title"/>
          </p:nvPr>
        </p:nvSpPr>
        <p:spPr>
          <a:xfrm>
            <a:off x="838200" y="129151"/>
            <a:ext cx="10515600" cy="814746"/>
          </a:xfrm>
        </p:spPr>
        <p:txBody>
          <a:bodyPr/>
          <a:lstStyle/>
          <a:p>
            <a:pPr algn="ctr"/>
            <a:r>
              <a:rPr lang="en-US" dirty="0">
                <a:solidFill>
                  <a:srgbClr val="FF0000"/>
                </a:solidFill>
              </a:rPr>
              <a:t>Churn Rate by Customer Segment</a:t>
            </a:r>
            <a:endParaRPr lang="en-IN" dirty="0">
              <a:solidFill>
                <a:srgbClr val="FF0000"/>
              </a:solidFill>
            </a:endParaRPr>
          </a:p>
        </p:txBody>
      </p:sp>
      <p:pic>
        <p:nvPicPr>
          <p:cNvPr id="4" name="Picture 3">
            <a:extLst>
              <a:ext uri="{FF2B5EF4-FFF2-40B4-BE49-F238E27FC236}">
                <a16:creationId xmlns:a16="http://schemas.microsoft.com/office/drawing/2014/main" id="{11A02243-0884-C046-024C-64C1816462A7}"/>
              </a:ext>
            </a:extLst>
          </p:cNvPr>
          <p:cNvPicPr>
            <a:picLocks noChangeAspect="1"/>
          </p:cNvPicPr>
          <p:nvPr/>
        </p:nvPicPr>
        <p:blipFill>
          <a:blip r:embed="rId2"/>
          <a:stretch>
            <a:fillRect/>
          </a:stretch>
        </p:blipFill>
        <p:spPr>
          <a:xfrm>
            <a:off x="7823635" y="1698341"/>
            <a:ext cx="4063997" cy="3848404"/>
          </a:xfrm>
          <a:prstGeom prst="rect">
            <a:avLst/>
          </a:prstGeom>
        </p:spPr>
      </p:pic>
      <p:sp>
        <p:nvSpPr>
          <p:cNvPr id="5" name="TextBox 4">
            <a:extLst>
              <a:ext uri="{FF2B5EF4-FFF2-40B4-BE49-F238E27FC236}">
                <a16:creationId xmlns:a16="http://schemas.microsoft.com/office/drawing/2014/main" id="{98E0CACA-FBEE-9B9D-9294-358DAE441660}"/>
              </a:ext>
            </a:extLst>
          </p:cNvPr>
          <p:cNvSpPr txBox="1"/>
          <p:nvPr/>
        </p:nvSpPr>
        <p:spPr>
          <a:xfrm>
            <a:off x="448475" y="1625479"/>
            <a:ext cx="6637774" cy="3921266"/>
          </a:xfrm>
          <a:prstGeom prst="rect">
            <a:avLst/>
          </a:prstGeom>
          <a:noFill/>
        </p:spPr>
        <p:txBody>
          <a:bodyPr wrap="square" rtlCol="0">
            <a:spAutoFit/>
          </a:bodyPr>
          <a:lstStyle/>
          <a:p>
            <a:r>
              <a:rPr lang="en-IN" sz="3200" b="1" dirty="0"/>
              <a:t>Insights – </a:t>
            </a:r>
          </a:p>
          <a:p>
            <a:pPr marL="457200" indent="-457200" algn="just">
              <a:lnSpc>
                <a:spcPct val="150000"/>
              </a:lnSpc>
              <a:buFont typeface="Arial" panose="020B0604020202020204" pitchFamily="34" charset="0"/>
              <a:buChar char="•"/>
            </a:pPr>
            <a:r>
              <a:rPr lang="en-US" sz="2400" dirty="0"/>
              <a:t>Senior citizens have significantly higher churn rates.</a:t>
            </a:r>
          </a:p>
          <a:p>
            <a:pPr marL="457200" indent="-457200" algn="just">
              <a:lnSpc>
                <a:spcPct val="150000"/>
              </a:lnSpc>
              <a:buFont typeface="Arial" panose="020B0604020202020204" pitchFamily="34" charset="0"/>
              <a:buChar char="•"/>
            </a:pPr>
            <a:r>
              <a:rPr lang="en-US" sz="2400" dirty="0"/>
              <a:t>Non-senior customers show comparatively lower churn rates.</a:t>
            </a:r>
          </a:p>
          <a:p>
            <a:pPr marL="457200" indent="-457200" algn="just">
              <a:lnSpc>
                <a:spcPct val="150000"/>
              </a:lnSpc>
              <a:buFont typeface="Arial" panose="020B0604020202020204" pitchFamily="34" charset="0"/>
              <a:buChar char="•"/>
            </a:pPr>
            <a:r>
              <a:rPr lang="en-US" sz="2400" dirty="0"/>
              <a:t>Female senior citizens have the highest churn rate among all segments</a:t>
            </a:r>
            <a:r>
              <a:rPr lang="en-US" sz="2800" dirty="0"/>
              <a:t>.</a:t>
            </a:r>
            <a:endParaRPr lang="en-IN" sz="2800" b="1" dirty="0"/>
          </a:p>
        </p:txBody>
      </p:sp>
    </p:spTree>
    <p:extLst>
      <p:ext uri="{BB962C8B-B14F-4D97-AF65-F5344CB8AC3E}">
        <p14:creationId xmlns:p14="http://schemas.microsoft.com/office/powerpoint/2010/main" val="1080053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C7277-F0C2-78FE-9A49-60DDC829F9A2}"/>
              </a:ext>
            </a:extLst>
          </p:cNvPr>
          <p:cNvSpPr>
            <a:spLocks noGrp="1"/>
          </p:cNvSpPr>
          <p:nvPr>
            <p:ph type="title"/>
          </p:nvPr>
        </p:nvSpPr>
        <p:spPr>
          <a:xfrm>
            <a:off x="838200" y="232390"/>
            <a:ext cx="10515600" cy="716423"/>
          </a:xfrm>
        </p:spPr>
        <p:txBody>
          <a:bodyPr/>
          <a:lstStyle/>
          <a:p>
            <a:pPr algn="ctr"/>
            <a:r>
              <a:rPr lang="en-IN" dirty="0">
                <a:solidFill>
                  <a:srgbClr val="FF0000"/>
                </a:solidFill>
              </a:rPr>
              <a:t>Revenue by Churn</a:t>
            </a:r>
          </a:p>
        </p:txBody>
      </p:sp>
      <p:sp>
        <p:nvSpPr>
          <p:cNvPr id="3" name="TextBox 2">
            <a:extLst>
              <a:ext uri="{FF2B5EF4-FFF2-40B4-BE49-F238E27FC236}">
                <a16:creationId xmlns:a16="http://schemas.microsoft.com/office/drawing/2014/main" id="{2458C342-FDCE-1702-6C59-F1A448C1AC3F}"/>
              </a:ext>
            </a:extLst>
          </p:cNvPr>
          <p:cNvSpPr txBox="1"/>
          <p:nvPr/>
        </p:nvSpPr>
        <p:spPr>
          <a:xfrm>
            <a:off x="422786" y="1259175"/>
            <a:ext cx="7207045" cy="4339650"/>
          </a:xfrm>
          <a:prstGeom prst="rect">
            <a:avLst/>
          </a:prstGeom>
          <a:noFill/>
        </p:spPr>
        <p:txBody>
          <a:bodyPr wrap="square" rtlCol="0">
            <a:spAutoFit/>
          </a:bodyPr>
          <a:lstStyle/>
          <a:p>
            <a:r>
              <a:rPr lang="en-IN" sz="3200" b="1" dirty="0"/>
              <a:t>Insights –</a:t>
            </a:r>
          </a:p>
          <a:p>
            <a:pPr marL="457200" indent="-457200" algn="just">
              <a:lnSpc>
                <a:spcPct val="150000"/>
              </a:lnSpc>
              <a:buFont typeface="Arial" panose="020B0604020202020204" pitchFamily="34" charset="0"/>
              <a:buChar char="•"/>
            </a:pPr>
            <a:r>
              <a:rPr lang="en-US" sz="2400" dirty="0"/>
              <a:t>Churned customers contribute significantly less revenue than active customers.</a:t>
            </a:r>
          </a:p>
          <a:p>
            <a:pPr marL="457200" indent="-457200" algn="just">
              <a:lnSpc>
                <a:spcPct val="150000"/>
              </a:lnSpc>
              <a:buFont typeface="Arial" panose="020B0604020202020204" pitchFamily="34" charset="0"/>
              <a:buChar char="•"/>
            </a:pPr>
            <a:r>
              <a:rPr lang="en-US" sz="2400" dirty="0"/>
              <a:t>Customer churn leads to substantial revenue loss for the business.</a:t>
            </a:r>
          </a:p>
          <a:p>
            <a:pPr marL="457200" indent="-457200" algn="just">
              <a:lnSpc>
                <a:spcPct val="150000"/>
              </a:lnSpc>
              <a:buFont typeface="Arial" panose="020B0604020202020204" pitchFamily="34" charset="0"/>
              <a:buChar char="•"/>
            </a:pPr>
            <a:r>
              <a:rPr lang="en-US" sz="2400" dirty="0"/>
              <a:t>Retaining existing customers is more valuable than acquiring new ones.</a:t>
            </a:r>
          </a:p>
          <a:p>
            <a:pPr marL="457200" indent="-457200">
              <a:buFont typeface="Arial" panose="020B0604020202020204" pitchFamily="34" charset="0"/>
              <a:buChar char="•"/>
            </a:pPr>
            <a:endParaRPr lang="en-IN" sz="2800" b="1" dirty="0"/>
          </a:p>
        </p:txBody>
      </p:sp>
      <p:pic>
        <p:nvPicPr>
          <p:cNvPr id="5" name="Picture 4">
            <a:extLst>
              <a:ext uri="{FF2B5EF4-FFF2-40B4-BE49-F238E27FC236}">
                <a16:creationId xmlns:a16="http://schemas.microsoft.com/office/drawing/2014/main" id="{BD91E4AF-75DC-1DCD-96E4-455BA8939C4D}"/>
              </a:ext>
            </a:extLst>
          </p:cNvPr>
          <p:cNvPicPr>
            <a:picLocks noChangeAspect="1"/>
          </p:cNvPicPr>
          <p:nvPr/>
        </p:nvPicPr>
        <p:blipFill>
          <a:blip r:embed="rId2"/>
          <a:stretch>
            <a:fillRect/>
          </a:stretch>
        </p:blipFill>
        <p:spPr>
          <a:xfrm>
            <a:off x="8295849" y="1164290"/>
            <a:ext cx="3473365" cy="4709480"/>
          </a:xfrm>
          <a:prstGeom prst="rect">
            <a:avLst/>
          </a:prstGeom>
        </p:spPr>
      </p:pic>
    </p:spTree>
    <p:extLst>
      <p:ext uri="{BB962C8B-B14F-4D97-AF65-F5344CB8AC3E}">
        <p14:creationId xmlns:p14="http://schemas.microsoft.com/office/powerpoint/2010/main" val="1266681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2B50D-01F0-36C0-436C-3F89963BF4BC}"/>
              </a:ext>
            </a:extLst>
          </p:cNvPr>
          <p:cNvSpPr>
            <a:spLocks noGrp="1"/>
          </p:cNvSpPr>
          <p:nvPr>
            <p:ph type="title"/>
          </p:nvPr>
        </p:nvSpPr>
        <p:spPr>
          <a:xfrm>
            <a:off x="838200" y="109486"/>
            <a:ext cx="10515600" cy="755752"/>
          </a:xfrm>
        </p:spPr>
        <p:txBody>
          <a:bodyPr/>
          <a:lstStyle/>
          <a:p>
            <a:pPr algn="ctr"/>
            <a:r>
              <a:rPr lang="en-IN" dirty="0">
                <a:solidFill>
                  <a:srgbClr val="FF0000"/>
                </a:solidFill>
              </a:rPr>
              <a:t>Key Churn KPIs Overview</a:t>
            </a:r>
          </a:p>
        </p:txBody>
      </p:sp>
      <p:pic>
        <p:nvPicPr>
          <p:cNvPr id="6" name="Picture 5">
            <a:extLst>
              <a:ext uri="{FF2B5EF4-FFF2-40B4-BE49-F238E27FC236}">
                <a16:creationId xmlns:a16="http://schemas.microsoft.com/office/drawing/2014/main" id="{EFBBE955-9695-BFA2-9872-65D54A6CD2EF}"/>
              </a:ext>
            </a:extLst>
          </p:cNvPr>
          <p:cNvPicPr>
            <a:picLocks noChangeAspect="1"/>
          </p:cNvPicPr>
          <p:nvPr/>
        </p:nvPicPr>
        <p:blipFill>
          <a:blip r:embed="rId2"/>
          <a:stretch>
            <a:fillRect/>
          </a:stretch>
        </p:blipFill>
        <p:spPr>
          <a:xfrm>
            <a:off x="2388559" y="1209368"/>
            <a:ext cx="7158564" cy="4313903"/>
          </a:xfrm>
          <a:prstGeom prst="rect">
            <a:avLst/>
          </a:prstGeom>
        </p:spPr>
      </p:pic>
    </p:spTree>
    <p:extLst>
      <p:ext uri="{BB962C8B-B14F-4D97-AF65-F5344CB8AC3E}">
        <p14:creationId xmlns:p14="http://schemas.microsoft.com/office/powerpoint/2010/main" val="2737943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70754B-0CD8-077D-C01A-D281DCC79B01}"/>
              </a:ext>
            </a:extLst>
          </p:cNvPr>
          <p:cNvPicPr>
            <a:picLocks noChangeAspect="1"/>
          </p:cNvPicPr>
          <p:nvPr/>
        </p:nvPicPr>
        <p:blipFill>
          <a:blip r:embed="rId2"/>
          <a:stretch>
            <a:fillRect/>
          </a:stretch>
        </p:blipFill>
        <p:spPr>
          <a:xfrm>
            <a:off x="-81280" y="0"/>
            <a:ext cx="12273280" cy="6858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892588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18335-28C8-75A1-F7EF-A4936ABC78A4}"/>
              </a:ext>
            </a:extLst>
          </p:cNvPr>
          <p:cNvSpPr>
            <a:spLocks noGrp="1"/>
          </p:cNvSpPr>
          <p:nvPr>
            <p:ph type="title"/>
          </p:nvPr>
        </p:nvSpPr>
        <p:spPr>
          <a:xfrm>
            <a:off x="551835" y="217640"/>
            <a:ext cx="10515600" cy="608269"/>
          </a:xfrm>
        </p:spPr>
        <p:txBody>
          <a:bodyPr>
            <a:normAutofit/>
          </a:bodyPr>
          <a:lstStyle/>
          <a:p>
            <a:pPr algn="ctr"/>
            <a:r>
              <a:rPr lang="en-IN" sz="3600" dirty="0">
                <a:solidFill>
                  <a:srgbClr val="FF0000"/>
                </a:solidFill>
              </a:rPr>
              <a:t>Experiences and Challenges</a:t>
            </a:r>
          </a:p>
        </p:txBody>
      </p:sp>
      <p:sp>
        <p:nvSpPr>
          <p:cNvPr id="3" name="Text Placeholder 2">
            <a:extLst>
              <a:ext uri="{FF2B5EF4-FFF2-40B4-BE49-F238E27FC236}">
                <a16:creationId xmlns:a16="http://schemas.microsoft.com/office/drawing/2014/main" id="{4854451F-BAEF-62C9-E9EE-5AE81D865443}"/>
              </a:ext>
            </a:extLst>
          </p:cNvPr>
          <p:cNvSpPr>
            <a:spLocks noGrp="1"/>
          </p:cNvSpPr>
          <p:nvPr>
            <p:ph type="body" idx="1"/>
          </p:nvPr>
        </p:nvSpPr>
        <p:spPr>
          <a:xfrm>
            <a:off x="551835" y="1091379"/>
            <a:ext cx="11088329" cy="5014453"/>
          </a:xfrm>
        </p:spPr>
        <p:txBody>
          <a:bodyPr>
            <a:normAutofit/>
          </a:bodyPr>
          <a:lstStyle/>
          <a:p>
            <a:pPr marL="114300" indent="0" algn="just">
              <a:lnSpc>
                <a:spcPct val="100000"/>
              </a:lnSpc>
              <a:buNone/>
            </a:pPr>
            <a:r>
              <a:rPr lang="en-IN" b="1" dirty="0"/>
              <a:t>Experiences – </a:t>
            </a:r>
          </a:p>
          <a:p>
            <a:pPr algn="just">
              <a:lnSpc>
                <a:spcPct val="100000"/>
              </a:lnSpc>
            </a:pPr>
            <a:r>
              <a:rPr lang="en-US" altLang="en-US" sz="2400" dirty="0">
                <a:solidFill>
                  <a:schemeClr val="tx1"/>
                </a:solidFill>
                <a:latin typeface="Arial" panose="020B0604020202020204" pitchFamily="34" charset="0"/>
              </a:rPr>
              <a:t>Improved understanding of customer churn behavior and business impact.</a:t>
            </a:r>
          </a:p>
          <a:p>
            <a:pPr algn="just">
              <a:lnSpc>
                <a:spcPct val="100000"/>
              </a:lnSpc>
            </a:pPr>
            <a:r>
              <a:rPr lang="en-US" altLang="en-US" sz="2400" dirty="0">
                <a:solidFill>
                  <a:schemeClr val="tx1"/>
                </a:solidFill>
                <a:latin typeface="Arial" panose="020B0604020202020204" pitchFamily="34" charset="0"/>
              </a:rPr>
              <a:t>Strengthened skills in Power BI, Power Query, and DAX.</a:t>
            </a:r>
          </a:p>
          <a:p>
            <a:pPr algn="just">
              <a:lnSpc>
                <a:spcPct val="100000"/>
              </a:lnSpc>
            </a:pPr>
            <a:r>
              <a:rPr lang="en-US" altLang="en-US" sz="2400" dirty="0">
                <a:solidFill>
                  <a:schemeClr val="tx1"/>
                </a:solidFill>
                <a:latin typeface="Arial" panose="020B0604020202020204" pitchFamily="34" charset="0"/>
              </a:rPr>
              <a:t>Learned how to convert raw data into meaningful business insights.</a:t>
            </a:r>
          </a:p>
          <a:p>
            <a:pPr algn="just">
              <a:lnSpc>
                <a:spcPct val="100000"/>
              </a:lnSpc>
            </a:pPr>
            <a:r>
              <a:rPr lang="en-US" altLang="en-US" sz="2400" dirty="0">
                <a:solidFill>
                  <a:schemeClr val="tx1"/>
                </a:solidFill>
                <a:latin typeface="Arial" panose="020B0604020202020204" pitchFamily="34" charset="0"/>
              </a:rPr>
              <a:t>Developed interactive dashboards to support data-driven decision-making.</a:t>
            </a:r>
            <a:endParaRPr lang="en-IN" sz="2400" dirty="0"/>
          </a:p>
          <a:p>
            <a:pPr marL="114300" indent="0" algn="just">
              <a:lnSpc>
                <a:spcPct val="100000"/>
              </a:lnSpc>
              <a:buNone/>
            </a:pPr>
            <a:r>
              <a:rPr lang="en-US" b="1" dirty="0"/>
              <a:t>Challenges –</a:t>
            </a:r>
          </a:p>
          <a:p>
            <a:pPr algn="just">
              <a:lnSpc>
                <a:spcPct val="100000"/>
              </a:lnSpc>
            </a:pPr>
            <a:r>
              <a:rPr lang="en-US" sz="2400" dirty="0">
                <a:latin typeface="Arial" panose="020B0604020202020204" pitchFamily="34" charset="0"/>
                <a:cs typeface="Arial" panose="020B0604020202020204" pitchFamily="34" charset="0"/>
              </a:rPr>
              <a:t>To Identifying the most relevant churn drivers from multiple variables.</a:t>
            </a:r>
          </a:p>
          <a:p>
            <a:pPr algn="just">
              <a:lnSpc>
                <a:spcPct val="100000"/>
              </a:lnSpc>
            </a:pPr>
            <a:r>
              <a:rPr lang="en-US" sz="2400" dirty="0">
                <a:latin typeface="Arial" panose="020B0604020202020204" pitchFamily="34" charset="0"/>
                <a:cs typeface="Arial" panose="020B0604020202020204" pitchFamily="34" charset="0"/>
              </a:rPr>
              <a:t>To Create accurate measures using DAX.</a:t>
            </a:r>
          </a:p>
          <a:p>
            <a:pPr algn="just">
              <a:lnSpc>
                <a:spcPct val="100000"/>
              </a:lnSpc>
            </a:pPr>
            <a:r>
              <a:rPr lang="en-US" sz="2400" dirty="0">
                <a:latin typeface="Arial" panose="020B0604020202020204" pitchFamily="34" charset="0"/>
                <a:cs typeface="Arial" panose="020B0604020202020204" pitchFamily="34" charset="0"/>
              </a:rPr>
              <a:t>To Balance dashboard design between visual appeal and analytical clarity.</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41150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84E91-67AB-C567-582E-AD45AD7D46AF}"/>
              </a:ext>
            </a:extLst>
          </p:cNvPr>
          <p:cNvSpPr>
            <a:spLocks noGrp="1"/>
          </p:cNvSpPr>
          <p:nvPr>
            <p:ph type="title"/>
          </p:nvPr>
        </p:nvSpPr>
        <p:spPr>
          <a:xfrm>
            <a:off x="838200" y="276636"/>
            <a:ext cx="10515600" cy="883572"/>
          </a:xfrm>
        </p:spPr>
        <p:txBody>
          <a:bodyPr/>
          <a:lstStyle/>
          <a:p>
            <a:pPr algn="ctr"/>
            <a:r>
              <a:rPr lang="en-IN" dirty="0">
                <a:solidFill>
                  <a:srgbClr val="FF0000"/>
                </a:solidFill>
              </a:rPr>
              <a:t>Conclusion</a:t>
            </a:r>
          </a:p>
        </p:txBody>
      </p:sp>
      <p:sp>
        <p:nvSpPr>
          <p:cNvPr id="3" name="Text Placeholder 2">
            <a:extLst>
              <a:ext uri="{FF2B5EF4-FFF2-40B4-BE49-F238E27FC236}">
                <a16:creationId xmlns:a16="http://schemas.microsoft.com/office/drawing/2014/main" id="{A77B4639-2B20-3B22-88D3-CAD04FB3BAC8}"/>
              </a:ext>
            </a:extLst>
          </p:cNvPr>
          <p:cNvSpPr>
            <a:spLocks noGrp="1"/>
          </p:cNvSpPr>
          <p:nvPr>
            <p:ph type="body" idx="1"/>
          </p:nvPr>
        </p:nvSpPr>
        <p:spPr>
          <a:xfrm>
            <a:off x="683342" y="1248698"/>
            <a:ext cx="10825316" cy="5004620"/>
          </a:xfrm>
        </p:spPr>
        <p:txBody>
          <a:bodyPr>
            <a:normAutofit fontScale="85000" lnSpcReduction="10000"/>
          </a:bodyPr>
          <a:lstStyle/>
          <a:p>
            <a:pPr algn="just">
              <a:lnSpc>
                <a:spcPct val="150000"/>
              </a:lnSpc>
            </a:pPr>
            <a:r>
              <a:rPr lang="en-US" dirty="0">
                <a:latin typeface="Arial" panose="020B0604020202020204" pitchFamily="34" charset="0"/>
                <a:ea typeface="Calibri" panose="020F0502020204030204" pitchFamily="34" charset="0"/>
                <a:cs typeface="Arial" panose="020B0604020202020204" pitchFamily="34" charset="0"/>
              </a:rPr>
              <a:t>Continuous churn monitoring is essential for long-term business success.</a:t>
            </a:r>
          </a:p>
          <a:p>
            <a:pPr algn="just">
              <a:lnSpc>
                <a:spcPct val="150000"/>
              </a:lnSpc>
            </a:pPr>
            <a:r>
              <a:rPr lang="en-US" dirty="0">
                <a:latin typeface="Arial" panose="020B0604020202020204" pitchFamily="34" charset="0"/>
                <a:ea typeface="Calibri" panose="020F0502020204030204" pitchFamily="34" charset="0"/>
                <a:cs typeface="Arial" panose="020B0604020202020204" pitchFamily="34" charset="0"/>
              </a:rPr>
              <a:t>The analysis successfully identified key patterns and drivers influencing customer churn in the telecom business.</a:t>
            </a:r>
          </a:p>
          <a:p>
            <a:pPr algn="just">
              <a:lnSpc>
                <a:spcPct val="150000"/>
              </a:lnSpc>
            </a:pPr>
            <a:r>
              <a:rPr lang="en-US" dirty="0">
                <a:latin typeface="Arial" panose="020B0604020202020204" pitchFamily="34" charset="0"/>
                <a:ea typeface="Calibri" panose="020F0502020204030204" pitchFamily="34" charset="0"/>
                <a:cs typeface="Arial" panose="020B0604020202020204" pitchFamily="34" charset="0"/>
              </a:rPr>
              <a:t>Interactive dashboards enable stakeholders to monitor churn trends and support data-driven decision-making.</a:t>
            </a:r>
          </a:p>
          <a:p>
            <a:pPr algn="just">
              <a:lnSpc>
                <a:spcPct val="150000"/>
              </a:lnSpc>
            </a:pPr>
            <a:r>
              <a:rPr lang="en-US" dirty="0">
                <a:latin typeface="Arial" panose="020B0604020202020204" pitchFamily="34" charset="0"/>
                <a:ea typeface="Calibri" panose="020F0502020204030204" pitchFamily="34" charset="0"/>
                <a:cs typeface="Arial" panose="020B0604020202020204" pitchFamily="34" charset="0"/>
              </a:rPr>
              <a:t>The insights derived from this analysis can help businesses design targeted strategies to improve customer retention and long-term profitability.</a:t>
            </a:r>
          </a:p>
        </p:txBody>
      </p:sp>
    </p:spTree>
    <p:extLst>
      <p:ext uri="{BB962C8B-B14F-4D97-AF65-F5344CB8AC3E}">
        <p14:creationId xmlns:p14="http://schemas.microsoft.com/office/powerpoint/2010/main" val="3214295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YOU</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1041</TotalTime>
  <Words>593</Words>
  <Application>Microsoft Office PowerPoint</Application>
  <PresentationFormat>Widescreen</PresentationFormat>
  <Paragraphs>62</Paragraphs>
  <Slides>14</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Lato Black</vt:lpstr>
      <vt:lpstr>Libre Baskerville</vt:lpstr>
      <vt:lpstr>Calibri</vt:lpstr>
      <vt:lpstr>Arial</vt:lpstr>
      <vt:lpstr>Office Theme</vt:lpstr>
      <vt:lpstr>PowerPoint Presentation</vt:lpstr>
      <vt:lpstr>PowerPoint Presentation</vt:lpstr>
      <vt:lpstr>Business Objectives :- </vt:lpstr>
      <vt:lpstr>Approach of Business Objective -</vt:lpstr>
      <vt:lpstr>Churn Rate By Internet Service</vt:lpstr>
      <vt:lpstr>Count of Customer_ID by Tenure Group</vt:lpstr>
      <vt:lpstr>Churn Rate by Contract Type</vt:lpstr>
      <vt:lpstr>Churn Rate by Customer Segment</vt:lpstr>
      <vt:lpstr>Revenue by Churn</vt:lpstr>
      <vt:lpstr>Key Churn KPIs Overview</vt:lpstr>
      <vt:lpstr>PowerPoint Presentation</vt:lpstr>
      <vt:lpstr>Experiences and Challenges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DISHA SURYAWANSHI</cp:lastModifiedBy>
  <cp:revision>2</cp:revision>
  <dcterms:created xsi:type="dcterms:W3CDTF">2021-02-16T05:19:01Z</dcterms:created>
  <dcterms:modified xsi:type="dcterms:W3CDTF">2026-01-17T06:01:20Z</dcterms:modified>
</cp:coreProperties>
</file>